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3" autoAdjust="0"/>
    <p:restoredTop sz="87071" autoAdjust="0"/>
  </p:normalViewPr>
  <p:slideViewPr>
    <p:cSldViewPr snapToGrid="0">
      <p:cViewPr varScale="1">
        <p:scale>
          <a:sx n="80" d="100"/>
          <a:sy n="8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C2313-1FC1-4351-8120-CB307A2730ED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7ABF0-F5E6-46DC-A6D9-5DD1D53C9F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436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核心约束：</a:t>
            </a:r>
          </a:p>
          <a:p>
            <a:pPr lvl="0"/>
            <a:r>
              <a:rPr lang="zh-CN" altLang="zh-CN" dirty="0">
                <a:effectLst/>
              </a:rPr>
              <a:t>全部输出统一落盘至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student_package/output</a:t>
            </a:r>
            <a:r>
              <a:rPr lang="zh-CN" altLang="zh-CN" dirty="0">
                <a:effectLst/>
              </a:rPr>
              <a:t>；</a:t>
            </a:r>
          </a:p>
          <a:p>
            <a:pPr lvl="0"/>
            <a:r>
              <a:rPr lang="zh-CN" altLang="zh-CN" dirty="0">
                <a:effectLst/>
              </a:rPr>
              <a:t>支持清空 output 目录后一键完整复现整条链路；</a:t>
            </a:r>
          </a:p>
          <a:p>
            <a:pPr lvl="0"/>
            <a:r>
              <a:rPr lang="zh-CN" altLang="zh-CN" dirty="0">
                <a:effectLst/>
              </a:rPr>
              <a:t>M4 业务</a:t>
            </a:r>
            <a:r>
              <a:rPr lang="zh-CN" altLang="zh-CN" b="0" dirty="0">
                <a:effectLst/>
              </a:rPr>
              <a:t>禁止直接使用 LLM 候选表</a:t>
            </a:r>
            <a:r>
              <a:rPr lang="zh-CN" altLang="zh-CN" dirty="0">
                <a:effectLst/>
              </a:rPr>
              <a:t>，必须使用人工核验后的映射表。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7ABF0-F5E6-46DC-A6D9-5DD1D53C9F6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76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DF8C3-3C52-4B78-40E3-926688BC6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94A16C-C27A-F71D-847D-741EBF26C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6B1288-9C9A-8DA0-DCE1-3C8F3962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85CB85-E0EF-AD49-8878-2E5250E8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02E88-2296-7EBB-4B16-1ED828D4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17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3D3B8-4B18-AE3C-D208-EF6A9AA2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7504F-EFC6-299D-F633-5C3CAC2C9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C98B92-DF20-B940-F9F9-4FBBA849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173B6-319E-239F-D759-9E668E1F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851B05-9C90-3981-FC55-5E2AFD9A7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11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B9B45-E08A-7B5F-09D6-3FA74DDD6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B8C48C-CAAA-9F32-C65E-B8936A21C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9DC76E-14AE-F6A4-B7D4-A64B9C45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0FA98A-1D42-4412-B677-6C57ED6F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E38E65-1165-44F6-2848-76EAE842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91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2A12E-4E31-3C2D-C3B9-F453F1F6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C48556-B30E-4567-07B0-8BAB5138A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24B4F2-0831-E3E5-7338-8290B15F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B47DB4-577C-AB53-569A-7636B3C7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87E885-408B-9429-EE63-126D65FE0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E4116-C96E-A6B6-B49D-ABDB6D35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98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B5814-1A5F-BBE2-8F59-95EFB0F1B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C0336C-A4C1-FC66-7723-30F8D6A6F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F206E6-159F-76C3-038D-E632815EB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BCA6F5-7749-E889-61C1-E60278B18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5C77F5-2F63-331D-0C76-B9C19DCF9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252356-E774-133F-611D-C2A4CE0E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413794-46C1-E21C-6CAA-D41ECED9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4F864BD-4131-01C7-AFF4-514766F5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4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1EB88-9828-7964-45B4-1B1F9DAD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E3A4BE-7ED5-EF2F-0A17-B6520E8C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89B9E9-2E8F-EA56-74C8-FA7F700CB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94970D-2849-ACAE-C8AB-A1F4EB2E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52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FB5E84-3370-423B-EC93-3D742AEE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D83D4D-E17D-5794-FF24-FFA791E1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2C31BB-2B9B-85E6-1A53-8EFCADBA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120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A0A37-45E3-9CFC-F341-912D303E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B818F-7B58-61DD-5A30-8BDD0E577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714A5E-6C6A-4D06-9C43-C32A3AD59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45991B-87E4-A731-C802-199D7EDE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87D1DB-BF52-DD29-C944-1E48A8D9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A01C1B-3DE3-6D43-72D9-50420CAF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83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048AF-A70D-6C53-B34D-490A0619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ECF175-876A-D51F-BF0F-D188CB288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20BF0D-1450-21F3-EC11-5FAF80ABF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D74CB5-9DDE-16BF-DD41-E90D3550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F90378-7219-E7F4-6D18-F5929978E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67B7F2-82DA-9984-344E-6EAEA0E2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47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BCFF2-3D7A-0692-323E-083074C8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4A7723-F514-25AA-6534-BD9A87200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4E8913-6C2A-DBEC-86A1-3AA9ADE0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DB7E4-2287-4532-BE03-88E9A52A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12FDB-2784-4E7D-E0B3-0C999C4D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4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E89D8D-D8FA-53DA-BE4C-8DB772C2C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27B0F7-AE29-5B2C-4D70-ADD73E8D6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0034DF-795B-65A9-7A2C-243003D53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9AA32C-471B-1828-76E3-9B49A598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6C8A7-5674-34A7-A48E-B5DF498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44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B899F7-DA23-A8FD-F939-78CAF3909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052A1E-DF81-19EE-71F7-D39540FDC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BE4C3-9EDC-5B58-D4F1-BE46C0016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56B5F-A8CF-4807-A2A6-110AB05EBA58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B484B7-8948-AC9B-CA61-2C4610343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DDBA1B-E87A-C43A-BBAC-833131801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D1339-52FA-4577-B280-43CCD871D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29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2FFE0-4861-7BC8-772E-82F0809D06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数据链软件暑期学校 M6 综合实践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F52102-2CBB-CAEC-6F9A-7DFBA38FE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姓名：倪天鹭</a:t>
            </a:r>
            <a:endParaRPr lang="en-US" altLang="zh-CN" dirty="0"/>
          </a:p>
          <a:p>
            <a:r>
              <a:rPr lang="zh-CN" altLang="en-US" dirty="0"/>
              <a:t>学号：</a:t>
            </a:r>
            <a:r>
              <a:rPr lang="en-US" altLang="zh-CN" dirty="0"/>
              <a:t>10245101563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9537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2943A-7FEC-B562-7147-802434A6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完整数据处理流水线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720960-7C96-9E51-ECB5-6283F9787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raw_states.json（OpenSky原始输入）</a:t>
            </a:r>
            <a:r>
              <a:rPr lang="en-US" altLang="zh-CN" sz="1600" dirty="0"/>
              <a:t>  </a:t>
            </a:r>
            <a:r>
              <a:rPr lang="zh-CN" altLang="en-US" sz="1600" dirty="0"/>
              <a:t>→</a:t>
            </a:r>
            <a:endParaRPr lang="zh-CN" altLang="zh-C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【M2】解析 → 生成发送方内部记录 → 编码为41字节TeachingLink二进制帧 encoded_messages.bin</a:t>
            </a:r>
            <a:r>
              <a:rPr lang="en-US" altLang="zh-CN" sz="1600" dirty="0"/>
              <a:t>  </a:t>
            </a:r>
            <a:r>
              <a:rPr lang="zh-CN" altLang="en-US" sz="1600" dirty="0"/>
              <a:t>→</a:t>
            </a:r>
            <a:endParaRPr lang="zh-CN" altLang="zh-C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【M2接收端】帧校验、解码，输出解码CSV、校验日志validation_log.csv、往返报告roundtrip_report.csv</a:t>
            </a:r>
            <a:r>
              <a:rPr lang="en-US" altLang="zh-CN" sz="1600" dirty="0"/>
              <a:t>  </a:t>
            </a:r>
            <a:r>
              <a:rPr lang="zh-CN" altLang="en-US" sz="1600" dirty="0"/>
              <a:t>→</a:t>
            </a:r>
            <a:endParaRPr lang="zh-CN" altLang="zh-C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【M3】多时刻航迹关联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├─ track_table.csv 航迹表（带track_sequence_no）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└─ current_situation.csv 当前态势（每个目标仅保留最新记录、track_length航迹点数）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    ↓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【M4】大模型候选映射 + 人工核验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├─ llm_mapping_candidate.csv 大模型原始候选映射表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├─ verified_mapping_table.csv 人工核验修正后的正式映射表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└─ unified_situation.ndjson 统一态势模型输出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    ↓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【M5】一致性质量检查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├─ alert_log.csv 告警日志（R1‑R4四条强制规则）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└─ quality_situation.csv 增强质量态势，附带display_status状态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        ↓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600" dirty="0"/>
              <a:t>experiment_summary.txt 综合实验摘要输出</a:t>
            </a:r>
          </a:p>
        </p:txBody>
      </p:sp>
    </p:spTree>
    <p:extLst>
      <p:ext uri="{BB962C8B-B14F-4D97-AF65-F5344CB8AC3E}">
        <p14:creationId xmlns:p14="http://schemas.microsoft.com/office/powerpoint/2010/main" val="1292063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1A3111-E356-4393-D700-A7EC3E93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65125"/>
            <a:ext cx="5157787" cy="1316038"/>
          </a:xfrm>
        </p:spPr>
        <p:txBody>
          <a:bodyPr/>
          <a:lstStyle/>
          <a:p>
            <a:r>
              <a:rPr lang="zh-CN" altLang="zh-CN" dirty="0"/>
              <a:t>M2 TeachingLink 41 字节帧要点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45753-CBF9-A795-20B2-A6D502B88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449897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1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网络字节序（大端）；magic=0x4453，version=1，message_type=1，message_length=41。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2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校验和：前 39 字节求和模 65536。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3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保留位强制为 0；</a:t>
            </a:r>
            <a:r>
              <a:rPr lang="zh-CN" altLang="zh-CN" sz="2000" dirty="0"/>
              <a:t>validity_flags</a:t>
            </a:r>
            <a:r>
              <a:rPr lang="zh-CN" altLang="zh-CN" sz="2000" dirty="0">
                <a:effectLst/>
              </a:rPr>
              <a:t>/</a:t>
            </a:r>
            <a:r>
              <a:rPr lang="zh-CN" altLang="zh-CN" sz="2000" dirty="0"/>
              <a:t>status_flags</a:t>
            </a:r>
            <a:r>
              <a:rPr lang="zh-CN" altLang="zh-CN" sz="2000" dirty="0">
                <a:effectLst/>
              </a:rPr>
              <a:t>高位必须为 0。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4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区分：帧 message_valid 仅代表格式校验通过，不代表业务数据真实可信。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5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定点编码：使用比例因子 + 偏移完成物理值 ↔ 协议整数互相转换，往返存在量化误差。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6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输出产物：</a:t>
            </a:r>
            <a:r>
              <a:rPr lang="zh-CN" altLang="zh-CN" sz="2000" dirty="0"/>
              <a:t>encoded_messages.bin</a:t>
            </a:r>
            <a:r>
              <a:rPr lang="zh-CN" altLang="zh-CN" sz="2000" dirty="0">
                <a:effectLst/>
              </a:rPr>
              <a:t>、</a:t>
            </a:r>
            <a:r>
              <a:rPr lang="zh-CN" altLang="zh-CN" sz="2000" dirty="0"/>
              <a:t>decoded_partner_states.csv</a:t>
            </a:r>
            <a:r>
              <a:rPr lang="zh-CN" altLang="zh-CN" sz="2000" dirty="0">
                <a:effectLst/>
              </a:rPr>
              <a:t>、</a:t>
            </a:r>
            <a:r>
              <a:rPr lang="zh-CN" altLang="zh-CN" sz="2000" dirty="0"/>
              <a:t>validation_log.csv</a:t>
            </a:r>
            <a:r>
              <a:rPr lang="zh-CN" altLang="zh-CN" sz="2000" dirty="0">
                <a:effectLst/>
              </a:rPr>
              <a:t>、</a:t>
            </a:r>
            <a:r>
              <a:rPr lang="zh-CN" altLang="zh-CN" sz="2000" dirty="0"/>
              <a:t>roundtrip_report.csv</a:t>
            </a:r>
            <a:r>
              <a:rPr lang="zh-CN" altLang="zh-CN" sz="2000" dirty="0">
                <a:effectLst/>
              </a:rPr>
              <a:t>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A6B3F9-F395-1418-08A4-9440FDA28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65125"/>
            <a:ext cx="5183188" cy="1316038"/>
          </a:xfrm>
        </p:spPr>
        <p:txBody>
          <a:bodyPr/>
          <a:lstStyle/>
          <a:p>
            <a:r>
              <a:rPr lang="zh-CN" altLang="zh-CN" dirty="0"/>
              <a:t>M3 航迹处理要点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2ECA11-781E-D5DC-A77A-EF32E48BA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0688"/>
            <a:ext cx="5183188" cy="449897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1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筛选条件：</a:t>
            </a:r>
            <a:r>
              <a:rPr lang="zh-CN" altLang="zh-CN" sz="2000" dirty="0"/>
              <a:t>message_valid=True</a:t>
            </a:r>
            <a:r>
              <a:rPr lang="zh-CN" altLang="zh-CN" sz="2000" dirty="0">
                <a:effectLst/>
              </a:rPr>
              <a:t>，</a:t>
            </a:r>
            <a:r>
              <a:rPr lang="zh-CN" altLang="zh-CN" sz="2000" dirty="0"/>
              <a:t>target_id</a:t>
            </a:r>
            <a:r>
              <a:rPr lang="zh-CN" altLang="zh-CN" sz="2000" dirty="0">
                <a:effectLst/>
              </a:rPr>
              <a:t>、</a:t>
            </a:r>
            <a:r>
              <a:rPr lang="zh-CN" altLang="zh-CN" sz="2000" dirty="0"/>
              <a:t>timestamp</a:t>
            </a:r>
            <a:r>
              <a:rPr lang="zh-CN" altLang="zh-CN" sz="2000" dirty="0">
                <a:effectLst/>
              </a:rPr>
              <a:t>不为空才进入航迹。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2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按</a:t>
            </a:r>
            <a:r>
              <a:rPr lang="zh-CN" altLang="zh-CN" sz="2000" dirty="0"/>
              <a:t>target_id</a:t>
            </a:r>
            <a:r>
              <a:rPr lang="zh-CN" altLang="zh-CN" sz="2000" dirty="0">
                <a:effectLst/>
              </a:rPr>
              <a:t>分组，组内按</a:t>
            </a:r>
            <a:r>
              <a:rPr lang="zh-CN" altLang="zh-CN" sz="2000" dirty="0"/>
              <a:t>timestamp</a:t>
            </a:r>
            <a:r>
              <a:rPr lang="zh-CN" altLang="zh-CN" sz="2000" dirty="0">
                <a:effectLst/>
              </a:rPr>
              <a:t>升序排序；</a:t>
            </a:r>
            <a:r>
              <a:rPr lang="zh-CN" altLang="zh-CN" sz="2000" dirty="0"/>
              <a:t>track_sequence_no</a:t>
            </a:r>
            <a:r>
              <a:rPr lang="zh-CN" altLang="zh-CN" sz="2000" dirty="0">
                <a:effectLst/>
              </a:rPr>
              <a:t>从 1 开始自增。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3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当前态势：每个目标选取</a:t>
            </a:r>
            <a:r>
              <a:rPr lang="zh-CN" altLang="zh-CN" sz="2000" b="1" dirty="0">
                <a:effectLst/>
              </a:rPr>
              <a:t>时间戳最大</a:t>
            </a:r>
            <a:r>
              <a:rPr lang="zh-CN" altLang="zh-CN" sz="2000" dirty="0">
                <a:effectLst/>
              </a:rPr>
              <a:t>的一条记录；</a:t>
            </a:r>
            <a:r>
              <a:rPr lang="zh-CN" altLang="zh-CN" sz="2000" dirty="0"/>
              <a:t>track_length</a:t>
            </a:r>
            <a:r>
              <a:rPr lang="zh-CN" altLang="zh-CN" sz="2000" dirty="0">
                <a:effectLst/>
              </a:rPr>
              <a:t>统计该目标航迹总点数。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effectLst/>
              </a:rPr>
              <a:t>4</a:t>
            </a:r>
            <a:r>
              <a:rPr lang="zh-CN" altLang="en-US" sz="2000" dirty="0">
                <a:effectLst/>
              </a:rPr>
              <a:t>、</a:t>
            </a:r>
            <a:r>
              <a:rPr lang="zh-CN" altLang="zh-CN" sz="2000" dirty="0">
                <a:effectLst/>
              </a:rPr>
              <a:t>可选字段为</a:t>
            </a:r>
            <a:r>
              <a:rPr lang="zh-CN" altLang="zh-CN" sz="2000" dirty="0"/>
              <a:t>None</a:t>
            </a:r>
            <a:r>
              <a:rPr lang="zh-CN" altLang="zh-CN" sz="2000" dirty="0">
                <a:effectLst/>
              </a:rPr>
              <a:t>不会丢弃整条有效记录。</a:t>
            </a:r>
          </a:p>
        </p:txBody>
      </p:sp>
    </p:spTree>
    <p:extLst>
      <p:ext uri="{BB962C8B-B14F-4D97-AF65-F5344CB8AC3E}">
        <p14:creationId xmlns:p14="http://schemas.microsoft.com/office/powerpoint/2010/main" val="293698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E58D-94E2-882F-640D-D748E588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3CD6D0-E508-4562-9CD6-6FBBC967A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65125"/>
            <a:ext cx="5157787" cy="1316038"/>
          </a:xfrm>
        </p:spPr>
        <p:txBody>
          <a:bodyPr/>
          <a:lstStyle/>
          <a:p>
            <a:r>
              <a:rPr lang="zh-CN" altLang="zh-CN" dirty="0"/>
              <a:t>M4 语义互操作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3A883D-AF0F-4B59-60D2-A6FE44B3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4498975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900" dirty="0">
                <a:effectLst/>
              </a:rPr>
              <a:t>1</a:t>
            </a:r>
            <a:r>
              <a:rPr lang="zh-CN" altLang="en-US" sz="1900" dirty="0">
                <a:effectLst/>
              </a:rPr>
              <a:t>、</a:t>
            </a:r>
            <a:r>
              <a:rPr lang="zh-CN" altLang="zh-CN" sz="1900" dirty="0">
                <a:effectLst/>
              </a:rPr>
              <a:t>流程：大模型生成候选映射表 </a:t>
            </a:r>
            <a:r>
              <a:rPr lang="zh-CN" altLang="zh-CN" sz="1900" dirty="0"/>
              <a:t>llm_mapping_candidate.csv</a:t>
            </a:r>
            <a:r>
              <a:rPr lang="zh-CN" altLang="zh-CN" sz="1900" dirty="0">
                <a:effectLst/>
              </a:rPr>
              <a:t> → 人工逐项核验修正得到</a:t>
            </a:r>
            <a:r>
              <a:rPr lang="zh-CN" altLang="zh-CN" sz="1900" dirty="0"/>
              <a:t>verified_mapping_table.csv</a:t>
            </a:r>
            <a:r>
              <a:rPr lang="zh-CN" altLang="zh-CN" sz="1900" dirty="0">
                <a:effectLst/>
              </a:rPr>
              <a:t>。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900" dirty="0">
                <a:effectLst/>
              </a:rPr>
              <a:t>2</a:t>
            </a:r>
            <a:r>
              <a:rPr lang="zh-CN" altLang="en-US" sz="1900" dirty="0">
                <a:effectLst/>
              </a:rPr>
              <a:t>、</a:t>
            </a:r>
            <a:r>
              <a:rPr lang="zh-CN" altLang="zh-CN" sz="1900" dirty="0">
                <a:effectLst/>
              </a:rPr>
              <a:t>核验维度：字段名称、数据类型、单位、比例因子、偏移、有效位、空值策略、量程。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900" dirty="0">
                <a:effectLst/>
              </a:rPr>
              <a:t>3</a:t>
            </a:r>
            <a:r>
              <a:rPr lang="zh-CN" altLang="en-US" sz="1900" dirty="0">
                <a:effectLst/>
              </a:rPr>
              <a:t>、</a:t>
            </a:r>
            <a:r>
              <a:rPr lang="zh-CN" altLang="zh-CN" sz="1900" dirty="0">
                <a:effectLst/>
              </a:rPr>
              <a:t>分别将 OpenSky、TeachingLink 两套来源数据转换为统一模型 JSON 结构，输出</a:t>
            </a:r>
            <a:r>
              <a:rPr lang="zh-CN" altLang="zh-CN" sz="1900" dirty="0"/>
              <a:t>unified_situation.ndjson</a:t>
            </a:r>
            <a:r>
              <a:rPr lang="zh-CN" altLang="zh-CN" sz="1900" dirty="0">
                <a:effectLst/>
              </a:rPr>
              <a:t>。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900" dirty="0">
                <a:effectLst/>
              </a:rPr>
              <a:t>4</a:t>
            </a:r>
            <a:r>
              <a:rPr lang="zh-CN" altLang="en-US" sz="1900" dirty="0">
                <a:effectLst/>
              </a:rPr>
              <a:t>、</a:t>
            </a:r>
            <a:r>
              <a:rPr lang="zh-CN" altLang="zh-CN" sz="1900" dirty="0">
                <a:effectLst/>
              </a:rPr>
              <a:t>有效位为 0 时，对应统一模型字段赋值为</a:t>
            </a:r>
            <a:r>
              <a:rPr lang="zh-CN" altLang="zh-CN" sz="1900" dirty="0"/>
              <a:t>null</a:t>
            </a:r>
            <a:r>
              <a:rPr lang="zh-CN" altLang="zh-CN" sz="1900" dirty="0">
                <a:effectLst/>
              </a:rPr>
              <a:t>，不能保留协议默认整数 0。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B1423B-1429-12AD-580C-E56131E64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65125"/>
            <a:ext cx="5183188" cy="1316038"/>
          </a:xfrm>
        </p:spPr>
        <p:txBody>
          <a:bodyPr/>
          <a:lstStyle/>
          <a:p>
            <a:r>
              <a:rPr lang="zh-CN" altLang="zh-CN" dirty="0"/>
              <a:t>M5 四条强制检查规则</a:t>
            </a:r>
            <a:endParaRPr lang="zh-CN" altLang="en-US" dirty="0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FBDEE4D0-C0DC-9BB7-6F6F-5FBCF3A930A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91659354"/>
              </p:ext>
            </p:extLst>
          </p:nvPr>
        </p:nvGraphicFramePr>
        <p:xfrm>
          <a:off x="6172200" y="1690688"/>
          <a:ext cx="5183188" cy="4507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873">
                  <a:extLst>
                    <a:ext uri="{9D8B030D-6E8A-4147-A177-3AD203B41FA5}">
                      <a16:colId xmlns:a16="http://schemas.microsoft.com/office/drawing/2014/main" val="1382212188"/>
                    </a:ext>
                  </a:extLst>
                </a:gridCol>
                <a:gridCol w="1598212">
                  <a:extLst>
                    <a:ext uri="{9D8B030D-6E8A-4147-A177-3AD203B41FA5}">
                      <a16:colId xmlns:a16="http://schemas.microsoft.com/office/drawing/2014/main" val="3175441174"/>
                    </a:ext>
                  </a:extLst>
                </a:gridCol>
                <a:gridCol w="1789044">
                  <a:extLst>
                    <a:ext uri="{9D8B030D-6E8A-4147-A177-3AD203B41FA5}">
                      <a16:colId xmlns:a16="http://schemas.microsoft.com/office/drawing/2014/main" val="1526011879"/>
                    </a:ext>
                  </a:extLst>
                </a:gridCol>
                <a:gridCol w="1122059">
                  <a:extLst>
                    <a:ext uri="{9D8B030D-6E8A-4147-A177-3AD203B41FA5}">
                      <a16:colId xmlns:a16="http://schemas.microsoft.com/office/drawing/2014/main" val="3751347129"/>
                    </a:ext>
                  </a:extLst>
                </a:gridCol>
              </a:tblGrid>
              <a:tr h="63712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规则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异常类型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触发条件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告警等级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04568"/>
                  </a:ext>
                </a:extLst>
              </a:tr>
              <a:tr h="73247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POSITION_MISSING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lat 或 lon 为空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961977"/>
                  </a:ext>
                </a:extLst>
              </a:tr>
              <a:tr h="1183224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DATA_DELAYED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batch_time(1710000120) −record_time &gt; 60s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MEDIUM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33934"/>
                  </a:ext>
                </a:extLst>
              </a:tr>
              <a:tr h="899771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DUPLICATE_RECORD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target_id+timestamp 完全一致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MEDIUM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705632"/>
                  </a:ext>
                </a:extLst>
              </a:tr>
              <a:tr h="1046389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HEADING_OUT_OF_RANGE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heading 非空，且不在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686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30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D9FAF-D706-036F-A9C4-9F2FCEBB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实验局限、问题总结与可扩展方向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85886E-5F33-5336-1FB9-B4F32630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r>
              <a:rPr lang="zh-CN" altLang="zh-CN" sz="1800" b="1" dirty="0"/>
              <a:t>现有实现局限</a:t>
            </a:r>
          </a:p>
          <a:p>
            <a:pPr marL="0" lvl="0" indent="0">
              <a:lnSpc>
                <a:spcPct val="140000"/>
              </a:lnSpc>
              <a:spcBef>
                <a:spcPts val="600"/>
              </a:spcBef>
              <a:buNone/>
            </a:pPr>
            <a:r>
              <a:rPr lang="zh-CN" altLang="zh-CN" sz="1800" dirty="0">
                <a:effectLst/>
              </a:rPr>
              <a:t>仅做离线文件处理，没有真实网络传输，二进制帧仅本地文件模拟传输</a:t>
            </a:r>
            <a:r>
              <a:rPr lang="zh-CN" altLang="en-US" sz="1800" dirty="0">
                <a:effectLst/>
              </a:rPr>
              <a:t>；</a:t>
            </a:r>
            <a:r>
              <a:rPr lang="zh-CN" altLang="zh-CN" sz="1800" dirty="0">
                <a:effectLst/>
              </a:rPr>
              <a:t>M5 只实现 4 条强制一致性规则，没有数据源可信度、来源真实性鉴别逻辑</a:t>
            </a:r>
            <a:r>
              <a:rPr lang="zh-CN" altLang="en-US" sz="1800" dirty="0">
                <a:effectLst/>
              </a:rPr>
              <a:t>；</a:t>
            </a:r>
            <a:r>
              <a:rPr lang="zh-CN" altLang="zh-CN" sz="1800" dirty="0">
                <a:effectLst/>
              </a:rPr>
              <a:t>未实现多传感器时间对齐、多源航迹融合</a:t>
            </a:r>
            <a:r>
              <a:rPr lang="zh-CN" altLang="en-US" sz="1800" dirty="0">
                <a:effectLst/>
              </a:rPr>
              <a:t>；</a:t>
            </a:r>
            <a:r>
              <a:rPr lang="zh-CN" altLang="zh-CN" sz="1800" dirty="0">
                <a:effectLst/>
              </a:rPr>
              <a:t>SQLite 持久化为选做，本次 M6 运行未启用</a:t>
            </a:r>
            <a:r>
              <a:rPr lang="zh-CN" altLang="en-US" sz="1800" dirty="0">
                <a:effectLst/>
              </a:rPr>
              <a:t>。</a:t>
            </a:r>
            <a:endParaRPr lang="zh-CN" altLang="zh-CN" sz="1800" dirty="0">
              <a:effectLst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r>
              <a:rPr lang="zh-CN" altLang="zh-CN" sz="1800" b="1" dirty="0"/>
              <a:t>运行注意事项（Windows）</a:t>
            </a:r>
          </a:p>
          <a:p>
            <a:pPr marL="0" lvl="0" indent="0">
              <a:lnSpc>
                <a:spcPct val="140000"/>
              </a:lnSpc>
              <a:spcBef>
                <a:spcPts val="600"/>
              </a:spcBef>
              <a:buNone/>
            </a:pPr>
            <a:r>
              <a:rPr lang="zh-CN" altLang="zh-CN" sz="1800" dirty="0">
                <a:effectLst/>
              </a:rPr>
              <a:t>运行前关闭 Excel/WPS/VS Code 打开的 output 目录文件，避免 WinError32 文件锁定报错</a:t>
            </a:r>
            <a:r>
              <a:rPr lang="zh-CN" altLang="en-US" sz="1800" dirty="0">
                <a:effectLst/>
              </a:rPr>
              <a:t>；</a:t>
            </a:r>
            <a:r>
              <a:rPr lang="zh-CN" altLang="zh-CN" sz="1800" dirty="0">
                <a:effectLst/>
              </a:rPr>
              <a:t>必须使用项目</a:t>
            </a:r>
            <a:r>
              <a:rPr lang="zh-CN" altLang="zh-CN" sz="1800" dirty="0"/>
              <a:t>.venv</a:t>
            </a:r>
            <a:r>
              <a:rPr lang="zh-CN" altLang="zh-CN" sz="1800" dirty="0">
                <a:effectLst/>
              </a:rPr>
              <a:t>虚拟环境，不要使用系统 Python</a:t>
            </a:r>
            <a:r>
              <a:rPr lang="zh-CN" altLang="en-US" sz="1800" dirty="0">
                <a:effectLst/>
              </a:rPr>
              <a:t>；</a:t>
            </a:r>
            <a:r>
              <a:rPr lang="zh-CN" altLang="zh-CN" sz="1800" dirty="0">
                <a:effectLst/>
              </a:rPr>
              <a:t>运行入口：</a:t>
            </a:r>
            <a:r>
              <a:rPr lang="zh-CN" altLang="zh-CN" sz="1800" dirty="0"/>
              <a:t>src_skeleton</a:t>
            </a:r>
            <a:r>
              <a:rPr lang="zh-CN" altLang="zh-CN" sz="1800" dirty="0">
                <a:effectLst/>
              </a:rPr>
              <a:t>目录执行</a:t>
            </a:r>
            <a:r>
              <a:rPr lang="zh-CN" altLang="zh-CN" sz="1800" dirty="0"/>
              <a:t>python run_all.py</a:t>
            </a:r>
            <a:r>
              <a:rPr lang="zh-CN" altLang="zh-CN" sz="1800" dirty="0">
                <a:effectLst/>
              </a:rPr>
              <a:t>，从空 output 目录完整复现全部产物。</a:t>
            </a: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r>
              <a:rPr lang="zh-CN" altLang="zh-CN" sz="1800" b="1" dirty="0"/>
              <a:t>可扩展改进方向</a:t>
            </a:r>
          </a:p>
          <a:p>
            <a:pPr marL="0" lvl="0" indent="0">
              <a:lnSpc>
                <a:spcPct val="140000"/>
              </a:lnSpc>
              <a:spcBef>
                <a:spcPts val="600"/>
              </a:spcBef>
              <a:buNone/>
            </a:pPr>
            <a:r>
              <a:rPr lang="zh-CN" altLang="zh-CN" sz="1800" dirty="0">
                <a:effectLst/>
              </a:rPr>
              <a:t>接入真实 OpenSky 网络接口，实时获取航空器数据</a:t>
            </a:r>
            <a:r>
              <a:rPr lang="zh-CN" altLang="en-US" sz="1800" dirty="0">
                <a:effectLst/>
              </a:rPr>
              <a:t>；</a:t>
            </a:r>
            <a:r>
              <a:rPr lang="zh-CN" altLang="zh-CN" sz="1800" dirty="0">
                <a:effectLst/>
              </a:rPr>
              <a:t>完善 SQLite 入库、查询，增加航迹可视化绘图</a:t>
            </a:r>
            <a:r>
              <a:rPr lang="zh-CN" altLang="en-US" sz="1800" dirty="0">
                <a:effectLst/>
              </a:rPr>
              <a:t>；</a:t>
            </a:r>
            <a:r>
              <a:rPr lang="zh-CN" altLang="zh-CN" sz="1800" dirty="0">
                <a:effectLst/>
              </a:rPr>
              <a:t>增加更多异常检测规则：速度 / 高度突变、跳变告警</a:t>
            </a:r>
            <a:r>
              <a:rPr lang="zh-CN" altLang="en-US" sz="1800" dirty="0">
                <a:effectLst/>
              </a:rPr>
              <a:t>；</a:t>
            </a:r>
            <a:r>
              <a:rPr lang="zh-CN" altLang="zh-CN" sz="1800" dirty="0">
                <a:effectLst/>
              </a:rPr>
              <a:t>实现多源航迹融合，对同一目标不同来源数据做加权可信度评估。</a:t>
            </a:r>
          </a:p>
        </p:txBody>
      </p:sp>
    </p:spTree>
    <p:extLst>
      <p:ext uri="{BB962C8B-B14F-4D97-AF65-F5344CB8AC3E}">
        <p14:creationId xmlns:p14="http://schemas.microsoft.com/office/powerpoint/2010/main" val="284388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1990</Words>
  <Application>Microsoft Office PowerPoint</Application>
  <PresentationFormat>宽屏</PresentationFormat>
  <Paragraphs>70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数据链软件暑期学校 M6 综合实践</vt:lpstr>
      <vt:lpstr>完整数据处理流水线</vt:lpstr>
      <vt:lpstr>PowerPoint 演示文稿</vt:lpstr>
      <vt:lpstr>PowerPoint 演示文稿</vt:lpstr>
      <vt:lpstr>实验局限、问题总结与可扩展方向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牙绯 路</dc:creator>
  <cp:lastModifiedBy>牙绯 路</cp:lastModifiedBy>
  <cp:revision>3</cp:revision>
  <dcterms:created xsi:type="dcterms:W3CDTF">2026-08-27T00:41:00Z</dcterms:created>
  <dcterms:modified xsi:type="dcterms:W3CDTF">2026-08-27T01:06:37Z</dcterms:modified>
</cp:coreProperties>
</file>